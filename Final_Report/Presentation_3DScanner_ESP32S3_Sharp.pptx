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A06588-52D6-4BEF-F9F6-69BC04E46901}">
          <p14:sldIdLst>
            <p14:sldId id="256"/>
            <p14:sldId id="257"/>
          </p14:sldIdLst>
        </p14:section>
        <p14:section name="Sensor" id="{5169FB98-2006-D48A-DD46-FFB6C4E50EB5}">
          <p14:sldIdLst>
            <p14:sldId id="258"/>
            <p14:sldId id="259"/>
            <p14:sldId id="260"/>
            <p14:sldId id="261"/>
          </p14:sldIdLst>
        </p14:section>
        <p14:section name="Design" id="{F99210E2-536A-7C5F-24E5-61C1A267AC6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sults" id="{2637A6AD-821B-2478-A96C-A509E83A13C5}">
          <p14:sldIdLst>
            <p14:sldId id="270"/>
            <p14:sldId id="271"/>
            <p14:sldId id="272"/>
            <p14:sldId id="273"/>
          </p14:sldIdLst>
        </p14:section>
        <p14:section name="Conclusion" id="{DB5A845F-7A02-6DE2-B612-ECDD5A188313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09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low-cost turntable 3D scanner controlled by an ESP32-S3, using an infrared triangulation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Matte white paper gives the cleanest spot; that is why the test cube was wrapped in A4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Translucent tape pulled faces in by 11–15 mm. Grazing angles and edges are filtered on the ESP32 and on the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drop at z ≈ 55 mm: the beam is 10 mm above the table, so the top is at 65 mm, the real cube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GitHub link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640080"/>
            <a:ext cx="1737360" cy="205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fi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31520"/>
            <a:ext cx="1371600" cy="176022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960120" y="2834640"/>
            <a:ext cx="1636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60120" y="4800600"/>
            <a:ext cx="1636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rgbClr val="D5DBE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0" y="274320"/>
            <a:ext cx="1005840" cy="129082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822960" y="95097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accent6"/>
                </a:solidFill>
              </a:rPr>
              <a:t>Embedded 3D scanner · ESP32-S3 + Sharp GP2Y0A51SK0F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ePak/DESIGN-AND-IMPLEMENTATION-OF-AN-ESP32-S3-BASED-3D-SCANNING-SYSTE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fAV5bEJ8A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60120" y="2834640"/>
            <a:ext cx="1636776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Embedded 3D Scanner with ESP32-S3 and the Sharp GP2Y0A51SK0F Infrared Sensor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960120" y="4800600"/>
            <a:ext cx="1636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D5DBE1"/>
                </a:solidFill>
              </a:rPr>
              <a:t>Final course project · Embedded System Design (ESDS437064E)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D5DBE1"/>
                </a:solidFill>
              </a:rPr>
              <a:t>Lecturer: M.Sc. Huỳnh Hoàng Hà</a:t>
            </a:r>
            <a:endParaRPr lang="en-US" sz="2800" dirty="0"/>
          </a:p>
        </p:txBody>
      </p:sp>
      <p:graphicFrame>
        <p:nvGraphicFramePr>
          <p:cNvPr id="4" name="memb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6172200"/>
          <a:ext cx="10058400" cy="22677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Full name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Student ID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1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Huỳnh Anh Tuấn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24119096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2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Lê Thành Tài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24119080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3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Phan Anh Khoa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B1F24"/>
                          </a:solidFill>
                        </a:rPr>
                        <a:t>24119048</a:t>
                      </a:r>
                      <a:endParaRPr lang="en-US" sz="2800" dirty="0"/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6D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ithub"/>
          <p:cNvSpPr txBox="1"/>
          <p:nvPr/>
        </p:nvSpPr>
        <p:spPr>
          <a:xfrm>
            <a:off x="960120" y="8746958"/>
            <a:ext cx="16367760" cy="12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GitHub: </a:t>
            </a:r>
            <a:r>
              <a:rPr lang="en-US" sz="2800" dirty="0">
                <a:solidFill>
                  <a:srgbClr val="FFFFFF"/>
                </a:solidFill>
                <a:hlinkClick r:id="rId3"/>
              </a:rPr>
              <a:t>https://github.com/YaePak/DESIGN-AND-IMPLEMENTATION-OF-AN-ESP32-S3-BASED-3D-SCANNING-SYSTEM</a:t>
            </a:r>
            <a:endParaRPr lang="en-US" sz="2800" dirty="0"/>
          </a:p>
        </p:txBody>
      </p:sp>
      <p:sp>
        <p:nvSpPr>
          <p:cNvPr id="6" name="IR dot start"/>
          <p:cNvSpPr/>
          <p:nvPr/>
        </p:nvSpPr>
        <p:spPr>
          <a:xfrm>
            <a:off x="15544800" y="731520"/>
            <a:ext cx="1645920" cy="1645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R dot core start"/>
          <p:cNvSpPr/>
          <p:nvPr/>
        </p:nvSpPr>
        <p:spPr>
          <a:xfrm>
            <a:off x="15983712" y="1170432"/>
            <a:ext cx="768096" cy="7680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Goal: digitise small objects with one low-cost sensor</a:t>
            </a:r>
            <a:endParaRPr lang="en-US" sz="4000" dirty="0"/>
          </a:p>
        </p:txBody>
      </p:sp>
      <p:sp>
        <p:nvSpPr>
          <p:cNvPr id="3" name="stat diameter value"/>
          <p:cNvSpPr txBox="1"/>
          <p:nvPr/>
        </p:nvSpPr>
        <p:spPr>
          <a:xfrm>
            <a:off x="82296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≈120 mm</a:t>
            </a:r>
            <a:endParaRPr lang="en-US" sz="6000" dirty="0"/>
          </a:p>
        </p:txBody>
      </p:sp>
      <p:sp>
        <p:nvSpPr>
          <p:cNvPr id="4" name="stat diameter label"/>
          <p:cNvSpPr txBox="1"/>
          <p:nvPr/>
        </p:nvSpPr>
        <p:spPr>
          <a:xfrm>
            <a:off x="82296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max object diameter</a:t>
            </a:r>
            <a:endParaRPr lang="en-US" sz="2800" dirty="0"/>
          </a:p>
        </p:txBody>
      </p:sp>
      <p:sp>
        <p:nvSpPr>
          <p:cNvPr id="5" name="stat height value"/>
          <p:cNvSpPr txBox="1"/>
          <p:nvPr/>
        </p:nvSpPr>
        <p:spPr>
          <a:xfrm>
            <a:off x="502920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mm</a:t>
            </a:r>
            <a:endParaRPr lang="en-US" sz="6000" dirty="0"/>
          </a:p>
        </p:txBody>
      </p:sp>
      <p:sp>
        <p:nvSpPr>
          <p:cNvPr id="6" name="stat height label"/>
          <p:cNvSpPr txBox="1"/>
          <p:nvPr/>
        </p:nvSpPr>
        <p:spPr>
          <a:xfrm>
            <a:off x="502920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max height, 1 mm layers</a:t>
            </a:r>
            <a:endParaRPr lang="en-US" sz="2800" dirty="0"/>
          </a:p>
        </p:txBody>
      </p:sp>
      <p:sp>
        <p:nvSpPr>
          <p:cNvPr id="7" name="stat points value"/>
          <p:cNvSpPr txBox="1"/>
          <p:nvPr/>
        </p:nvSpPr>
        <p:spPr>
          <a:xfrm>
            <a:off x="923544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000" dirty="0"/>
          </a:p>
        </p:txBody>
      </p:sp>
      <p:sp>
        <p:nvSpPr>
          <p:cNvPr id="8" name="stat points label"/>
          <p:cNvSpPr txBox="1"/>
          <p:nvPr/>
        </p:nvSpPr>
        <p:spPr>
          <a:xfrm>
            <a:off x="923544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points per turn (3.6°)</a:t>
            </a:r>
            <a:endParaRPr lang="en-US" sz="2800" dirty="0"/>
          </a:p>
        </p:txBody>
      </p:sp>
      <p:sp>
        <p:nvSpPr>
          <p:cNvPr id="9" name="stat accuracy value"/>
          <p:cNvSpPr txBox="1"/>
          <p:nvPr/>
        </p:nvSpPr>
        <p:spPr>
          <a:xfrm>
            <a:off x="13441680" y="17373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±1–2 mm</a:t>
            </a:r>
            <a:endParaRPr lang="en-US" sz="6000" dirty="0"/>
          </a:p>
        </p:txBody>
      </p:sp>
      <p:sp>
        <p:nvSpPr>
          <p:cNvPr id="10" name="stat accuracy label"/>
          <p:cNvSpPr txBox="1"/>
          <p:nvPr/>
        </p:nvSpPr>
        <p:spPr>
          <a:xfrm>
            <a:off x="13441680" y="2880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target on a 60 mm cube</a:t>
            </a:r>
            <a:endParaRPr lang="en-US" sz="2800" dirty="0"/>
          </a:p>
        </p:txBody>
      </p:sp>
      <p:sp>
        <p:nvSpPr>
          <p:cNvPr id="11" name="requirements card"/>
          <p:cNvSpPr/>
          <p:nvPr/>
        </p:nvSpPr>
        <p:spPr>
          <a:xfrm>
            <a:off x="822960" y="4389120"/>
            <a:ext cx="8138160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quirements dot"/>
          <p:cNvSpPr/>
          <p:nvPr/>
        </p:nvSpPr>
        <p:spPr>
          <a:xfrm>
            <a:off x="1143000" y="47731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quirements head"/>
          <p:cNvSpPr txBox="1"/>
          <p:nvPr/>
        </p:nvSpPr>
        <p:spPr>
          <a:xfrm>
            <a:off x="1828800" y="4645152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Requirements</a:t>
            </a:r>
            <a:endParaRPr lang="en-US" sz="3200" dirty="0"/>
          </a:p>
        </p:txBody>
      </p:sp>
      <p:sp>
        <p:nvSpPr>
          <p:cNvPr id="14" name="requirements body"/>
          <p:cNvSpPr txBox="1"/>
          <p:nvPr/>
        </p:nvSpPr>
        <p:spPr>
          <a:xfrm>
            <a:off x="1188720" y="5623560"/>
            <a:ext cx="7452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Starts at power-on, no buttons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Streams each layer over Wi-Fi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Data kept in RAM only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Closed STL model on the PC</a:t>
            </a:r>
            <a:endParaRPr lang="en-US" sz="2800" dirty="0"/>
          </a:p>
        </p:txBody>
      </p:sp>
      <p:sp>
        <p:nvSpPr>
          <p:cNvPr id="15" name="embedded card"/>
          <p:cNvSpPr/>
          <p:nvPr/>
        </p:nvSpPr>
        <p:spPr>
          <a:xfrm>
            <a:off x="9326880" y="4389120"/>
            <a:ext cx="8138160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mbedded dot"/>
          <p:cNvSpPr/>
          <p:nvPr/>
        </p:nvSpPr>
        <p:spPr>
          <a:xfrm>
            <a:off x="9646920" y="4773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mbedded head"/>
          <p:cNvSpPr txBox="1"/>
          <p:nvPr/>
        </p:nvSpPr>
        <p:spPr>
          <a:xfrm>
            <a:off x="10332720" y="4645152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it is embedded</a:t>
            </a:r>
            <a:endParaRPr lang="en-US" sz="3200" dirty="0"/>
          </a:p>
        </p:txBody>
      </p:sp>
      <p:sp>
        <p:nvSpPr>
          <p:cNvPr id="18" name="embedded body"/>
          <p:cNvSpPr txBox="1"/>
          <p:nvPr/>
        </p:nvSpPr>
        <p:spPr>
          <a:xfrm>
            <a:off x="9692640" y="5623560"/>
            <a:ext cx="7452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Real-time stepper timing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Analog sampling on ADC2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Two FreeRTOS tasks, two cores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Framed TCP with ACK/NACK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TF-Luna cannot see the object; the Sharp sensor can</a:t>
            </a:r>
            <a:endParaRPr lang="en-US" sz="4000" dirty="0"/>
          </a:p>
        </p:txBody>
      </p:sp>
      <p:graphicFrame>
        <p:nvGraphicFramePr>
          <p:cNvPr id="4" name="sens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607040" cy="448056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TF-Luna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Sharp (final)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Principle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time of flight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triangulation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Range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0.2–8 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2–15 cm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Accuracy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±6 cm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≈0.2–1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Interface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UART / I²C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1 analog pin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Calibration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not needed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voltage table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At 30–90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no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yes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ecision card"/>
          <p:cNvSpPr/>
          <p:nvPr/>
        </p:nvSpPr>
        <p:spPr>
          <a:xfrm>
            <a:off x="11795760" y="1828800"/>
            <a:ext cx="5669280" cy="5669280"/>
          </a:xfrm>
          <a:prstGeom prst="roundRect">
            <a:avLst>
              <a:gd name="adj" fmla="val 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cision dot"/>
          <p:cNvSpPr/>
          <p:nvPr/>
        </p:nvSpPr>
        <p:spPr>
          <a:xfrm>
            <a:off x="12115800" y="22128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cision head"/>
          <p:cNvSpPr txBox="1"/>
          <p:nvPr/>
        </p:nvSpPr>
        <p:spPr>
          <a:xfrm>
            <a:off x="12801600" y="20848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Decision</a:t>
            </a:r>
            <a:endParaRPr lang="en-US" sz="3200" dirty="0"/>
          </a:p>
        </p:txBody>
      </p:sp>
      <p:sp>
        <p:nvSpPr>
          <p:cNvPr id="7" name="decision body"/>
          <p:cNvSpPr txBox="1"/>
          <p:nvPr/>
        </p:nvSpPr>
        <p:spPr>
          <a:xfrm>
            <a:off x="12161520" y="3063240"/>
            <a:ext cx="4983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Object is 30–90 mm away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That is inside the TF-Luna 20 cm blind zone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Sharp is built for 2–15 cm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Triangulation: distance moves the light spot on the PSD</a:t>
            </a:r>
            <a:endParaRPr lang="en-US" sz="4000" dirty="0"/>
          </a:p>
        </p:txBody>
      </p:sp>
      <p:pic>
        <p:nvPicPr>
          <p:cNvPr id="3" name="triangulation figure" descr="triangulation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5669280"/>
          </a:xfrm>
          <a:prstGeom prst="rect">
            <a:avLst/>
          </a:prstGeom>
        </p:spPr>
      </p:pic>
      <p:sp>
        <p:nvSpPr>
          <p:cNvPr id="4" name="principle bullets"/>
          <p:cNvSpPr txBox="1"/>
          <p:nvPr/>
        </p:nvSpPr>
        <p:spPr>
          <a:xfrm>
            <a:off x="914400" y="7498080"/>
            <a:ext cx="1645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Nearer object → spot moves further on the PSD → higher Vo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Vo is turned into millimetres with a calibration table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The reading depends on the surface (1/2)</a:t>
            </a:r>
            <a:endParaRPr lang="en-US" sz="4000" dirty="0"/>
          </a:p>
        </p:txBody>
      </p:sp>
      <p:pic>
        <p:nvPicPr>
          <p:cNvPr id="3" name="surface figure 1" descr="surface fig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16642080" cy="6766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The reading depends on the surface (2/2)</a:t>
            </a:r>
            <a:endParaRPr lang="en-US" sz="4000" dirty="0"/>
          </a:p>
        </p:txBody>
      </p:sp>
      <p:pic>
        <p:nvPicPr>
          <p:cNvPr id="3" name="surface figure 2" descr="surface fig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16642080" cy="6766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System overview</a:t>
            </a:r>
            <a:endParaRPr lang="en-US" sz="4000" dirty="0"/>
          </a:p>
        </p:txBody>
      </p:sp>
      <p:pic>
        <p:nvPicPr>
          <p:cNvPr id="3" name="block diagram" descr="block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7680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Pin allocation and control board</a:t>
            </a:r>
            <a:endParaRPr lang="en-US" sz="4000" dirty="0"/>
          </a:p>
        </p:txBody>
      </p:sp>
      <p:graphicFrame>
        <p:nvGraphicFramePr>
          <p:cNvPr id="9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731520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4 / 5 / 6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table DIR/STEP/EN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10 / 11 / 12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Z DIR/STEP/EN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18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Sharp Vo (ADC2)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17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unused input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5V · 3V3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5 V regulator, logic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no button note"/>
          <p:cNvSpPr txBox="1"/>
          <p:nvPr/>
        </p:nvSpPr>
        <p:spPr>
          <a:xfrm>
            <a:off x="822960" y="5943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1"/>
                </a:solidFill>
              </a:rPr>
              <a:t>No push button: the scan starts at power-on, RST starts a new scan</a:t>
            </a:r>
            <a:endParaRPr lang="en-US" sz="2800" dirty="0"/>
          </a:p>
        </p:txBody>
      </p:sp>
      <p:pic>
        <p:nvPicPr>
          <p:cNvPr id="5" name="schematic" descr="schemat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12084"/>
            <a:ext cx="8961120" cy="6817112"/>
          </a:xfrm>
          <a:prstGeom prst="rect">
            <a:avLst/>
          </a:prstGeom>
        </p:spPr>
      </p:pic>
      <p:sp>
        <p:nvSpPr>
          <p:cNvPr id="6" name="schematic caption"/>
          <p:cNvSpPr txBox="1"/>
          <p:nvPr/>
        </p:nvSpPr>
        <p:spPr>
          <a:xfrm>
            <a:off x="8503920" y="8595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6"/>
                </a:solidFill>
              </a:rPr>
              <a:t>Control board schematic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Firmware: two tasks that only meet in RAM</a:t>
            </a:r>
            <a:endParaRPr lang="en-US" sz="4000" dirty="0"/>
          </a:p>
        </p:txBody>
      </p:sp>
      <p:pic>
        <p:nvPicPr>
          <p:cNvPr id="3" name="firmware diagram" descr="firmwa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7680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Measuring one point next to Wi-Fi</a:t>
            </a:r>
            <a:endParaRPr lang="en-US" sz="4000" dirty="0"/>
          </a:p>
        </p:txBody>
      </p:sp>
      <p:pic>
        <p:nvPicPr>
          <p:cNvPr id="3" name="adc chain" descr="adc ch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6642080" cy="1645920"/>
          </a:xfrm>
          <a:prstGeom prst="rect">
            <a:avLst/>
          </a:prstGeom>
        </p:spPr>
      </p:pic>
      <p:sp>
        <p:nvSpPr>
          <p:cNvPr id="4" name="adc problem card"/>
          <p:cNvSpPr/>
          <p:nvPr/>
        </p:nvSpPr>
        <p:spPr>
          <a:xfrm>
            <a:off x="822960" y="3749040"/>
            <a:ext cx="8138160" cy="5394960"/>
          </a:xfrm>
          <a:prstGeom prst="roundRect">
            <a:avLst>
              <a:gd name="adj" fmla="val 16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dc problem dot"/>
          <p:cNvSpPr/>
          <p:nvPr/>
        </p:nvSpPr>
        <p:spPr>
          <a:xfrm>
            <a:off x="1143000" y="41330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dc problem head"/>
          <p:cNvSpPr txBox="1"/>
          <p:nvPr/>
        </p:nvSpPr>
        <p:spPr>
          <a:xfrm>
            <a:off x="1828800" y="4005072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7" name="adc problem body"/>
          <p:cNvSpPr txBox="1"/>
          <p:nvPr/>
        </p:nvSpPr>
        <p:spPr>
          <a:xfrm>
            <a:off x="1188720" y="4983480"/>
            <a:ext cx="7452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ADC2 shares the radio with Wi-Fi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While Wi-Fi sends, a read can return ≈0 mV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The PCB cannot be changed</a:t>
            </a:r>
            <a:endParaRPr lang="en-US" sz="2800" dirty="0"/>
          </a:p>
        </p:txBody>
      </p:sp>
      <p:sp>
        <p:nvSpPr>
          <p:cNvPr id="8" name="irmeasure card"/>
          <p:cNvSpPr/>
          <p:nvPr/>
        </p:nvSpPr>
        <p:spPr>
          <a:xfrm>
            <a:off x="9326880" y="3749040"/>
            <a:ext cx="8138160" cy="5394960"/>
          </a:xfrm>
          <a:prstGeom prst="roundRect">
            <a:avLst>
              <a:gd name="adj" fmla="val 16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rmeasure dot"/>
          <p:cNvSpPr/>
          <p:nvPr/>
        </p:nvSpPr>
        <p:spPr>
          <a:xfrm>
            <a:off x="9646920" y="41330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rmeasure head"/>
          <p:cNvSpPr txBox="1"/>
          <p:nvPr/>
        </p:nvSpPr>
        <p:spPr>
          <a:xfrm>
            <a:off x="10332720" y="4005072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irMeasure()</a:t>
            </a:r>
            <a:endParaRPr lang="en-US" sz="3200" dirty="0"/>
          </a:p>
        </p:txBody>
      </p:sp>
      <p:sp>
        <p:nvSpPr>
          <p:cNvPr id="11" name="irmeasure body"/>
          <p:cNvSpPr txBox="1"/>
          <p:nvPr/>
        </p:nvSpPr>
        <p:spPr>
          <a:xfrm>
            <a:off x="9692640" y="4983480"/>
            <a:ext cx="7452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Wait 30 ms to settle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Read 24 samples, 1 ms apart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Drop ≈0 mV reads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Mean of the middle 50 %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CAL table → d, r = 90 − 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From 24 raw samples to one radius</a:t>
            </a:r>
            <a:endParaRPr lang="en-US" sz="4000" dirty="0"/>
          </a:p>
        </p:txBody>
      </p:sp>
      <p:pic>
        <p:nvPicPr>
          <p:cNvPr id="3" name="adc plots" descr="adc 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6035040"/>
          </a:xfrm>
          <a:prstGeom prst="rect">
            <a:avLst/>
          </a:prstGeom>
        </p:spPr>
      </p:pic>
      <p:sp>
        <p:nvSpPr>
          <p:cNvPr id="4" name="adc bullets"/>
          <p:cNvSpPr txBox="1"/>
          <p:nvPr/>
        </p:nvSpPr>
        <p:spPr>
          <a:xfrm>
            <a:off x="914400" y="800100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Example point: Vo = 940 mV → d = 60 mm → r = 30 mm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Motion timed to cancel table vibration</a:t>
            </a:r>
            <a:endParaRPr lang="en-US" sz="4000" dirty="0"/>
          </a:p>
        </p:txBody>
      </p:sp>
      <p:pic>
        <p:nvPicPr>
          <p:cNvPr id="3" name="ringing figure" descr="ringing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5212080"/>
          </a:xfrm>
          <a:prstGeom prst="rect">
            <a:avLst/>
          </a:prstGeom>
        </p:spPr>
      </p:pic>
      <p:sp>
        <p:nvSpPr>
          <p:cNvPr id="4" name="stat gap value"/>
          <p:cNvSpPr txBox="1"/>
          <p:nvPr/>
        </p:nvSpPr>
        <p:spPr>
          <a:xfrm>
            <a:off x="822960" y="70866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ms</a:t>
            </a:r>
            <a:endParaRPr lang="en-US" sz="6000" dirty="0"/>
          </a:p>
        </p:txBody>
      </p:sp>
      <p:sp>
        <p:nvSpPr>
          <p:cNvPr id="5" name="stat gap label"/>
          <p:cNvSpPr txBox="1"/>
          <p:nvPr/>
        </p:nvSpPr>
        <p:spPr>
          <a:xfrm>
            <a:off x="822960" y="82296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between the 2 steps of a move</a:t>
            </a:r>
            <a:endParaRPr lang="en-US" sz="2800" dirty="0"/>
          </a:p>
        </p:txBody>
      </p:sp>
      <p:sp>
        <p:nvSpPr>
          <p:cNvPr id="6" name="stat layer value"/>
          <p:cNvSpPr txBox="1"/>
          <p:nvPr/>
        </p:nvSpPr>
        <p:spPr>
          <a:xfrm>
            <a:off x="6492240" y="70866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steps</a:t>
            </a:r>
            <a:endParaRPr lang="en-US" sz="6000" dirty="0"/>
          </a:p>
        </p:txBody>
      </p:sp>
      <p:sp>
        <p:nvSpPr>
          <p:cNvPr id="7" name="stat layer label"/>
          <p:cNvSpPr txBox="1"/>
          <p:nvPr/>
        </p:nvSpPr>
        <p:spPr>
          <a:xfrm>
            <a:off x="6492240" y="82296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per 1 mm layer</a:t>
            </a:r>
            <a:endParaRPr lang="en-US" sz="2800" dirty="0"/>
          </a:p>
        </p:txBody>
      </p:sp>
      <p:sp>
        <p:nvSpPr>
          <p:cNvPr id="8" name="stat z value"/>
          <p:cNvSpPr txBox="1"/>
          <p:nvPr/>
        </p:nvSpPr>
        <p:spPr>
          <a:xfrm>
            <a:off x="12161520" y="70866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0–150 mm</a:t>
            </a:r>
            <a:endParaRPr lang="en-US" sz="6000" dirty="0"/>
          </a:p>
        </p:txBody>
      </p:sp>
      <p:sp>
        <p:nvSpPr>
          <p:cNvPr id="9" name="stat z label"/>
          <p:cNvSpPr txBox="1"/>
          <p:nvPr/>
        </p:nvSpPr>
        <p:spPr>
          <a:xfrm>
            <a:off x="12161520" y="82296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Z range, returns home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A transfer the PC can verify</a:t>
            </a:r>
            <a:endParaRPr lang="en-US" sz="4000" dirty="0"/>
          </a:p>
        </p:txBody>
      </p:sp>
      <p:pic>
        <p:nvPicPr>
          <p:cNvPr id="3" name="sequence diagram" descr="sequenc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1155680" cy="7680960"/>
          </a:xfrm>
          <a:prstGeom prst="rect">
            <a:avLst/>
          </a:prstGeom>
        </p:spPr>
      </p:pic>
      <p:sp>
        <p:nvSpPr>
          <p:cNvPr id="4" name="protocol card"/>
          <p:cNvSpPr/>
          <p:nvPr/>
        </p:nvSpPr>
        <p:spPr>
          <a:xfrm>
            <a:off x="12344400" y="1828800"/>
            <a:ext cx="5120640" cy="548640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tocol dot"/>
          <p:cNvSpPr/>
          <p:nvPr/>
        </p:nvSpPr>
        <p:spPr>
          <a:xfrm>
            <a:off x="12664440" y="221284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rotocol head"/>
          <p:cNvSpPr txBox="1"/>
          <p:nvPr/>
        </p:nvSpPr>
        <p:spPr>
          <a:xfrm>
            <a:off x="13350240" y="20848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it is safe</a:t>
            </a:r>
            <a:endParaRPr lang="en-US" sz="3200" dirty="0"/>
          </a:p>
        </p:txBody>
      </p:sp>
      <p:sp>
        <p:nvSpPr>
          <p:cNvPr id="7" name="protocol body"/>
          <p:cNvSpPr txBox="1"/>
          <p:nvPr/>
        </p:nvSpPr>
        <p:spPr>
          <a:xfrm>
            <a:off x="12710160" y="3063240"/>
            <a:ext cx="4434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PC counts the lines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A late PC still gets the whole scan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Lost link: resend from RAM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PC side: correcting the 14.1 mm beam offset</a:t>
            </a:r>
            <a:endParaRPr lang="en-US" sz="4000" dirty="0"/>
          </a:p>
        </p:txBody>
      </p:sp>
      <p:pic>
        <p:nvPicPr>
          <p:cNvPr id="3" name="offset figure" descr="offset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5760720"/>
          </a:xfrm>
          <a:prstGeom prst="rect">
            <a:avLst/>
          </a:prstGeom>
        </p:spPr>
      </p:pic>
      <p:sp>
        <p:nvSpPr>
          <p:cNvPr id="4" name="pc bullets"/>
          <p:cNvSpPr txBox="1"/>
          <p:nvPr/>
        </p:nvSpPr>
        <p:spPr>
          <a:xfrm>
            <a:off x="914400" y="7589520"/>
            <a:ext cx="1645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Red: raw points, green: true 60 mm square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xyztostl.py: offset fix, grazing filter, gap fill, binary STL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Hardware built</a:t>
            </a:r>
            <a:endParaRPr lang="en-US" sz="4000" dirty="0"/>
          </a:p>
        </p:txBody>
      </p:sp>
      <p:pic>
        <p:nvPicPr>
          <p:cNvPr id="3" name="Printed frame" descr="Printed fra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109" y="1691640"/>
            <a:ext cx="2201062" cy="2926080"/>
          </a:xfrm>
          <a:prstGeom prst="rect">
            <a:avLst/>
          </a:prstGeom>
        </p:spPr>
      </p:pic>
      <p:sp>
        <p:nvSpPr>
          <p:cNvPr id="4" name="Printed frame caption"/>
          <p:cNvSpPr txBox="1"/>
          <p:nvPr/>
        </p:nvSpPr>
        <p:spPr>
          <a:xfrm>
            <a:off x="85344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Printed frame</a:t>
            </a:r>
            <a:endParaRPr lang="en-US" sz="2800" dirty="0"/>
          </a:p>
        </p:txBody>
      </p:sp>
      <p:pic>
        <p:nvPicPr>
          <p:cNvPr id="5" name="Control board, top" descr="Control board, 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143" y="1691640"/>
            <a:ext cx="1937715" cy="2926080"/>
          </a:xfrm>
          <a:prstGeom prst="rect">
            <a:avLst/>
          </a:prstGeom>
        </p:spPr>
      </p:pic>
      <p:sp>
        <p:nvSpPr>
          <p:cNvPr id="6" name="Control board, top caption"/>
          <p:cNvSpPr txBox="1"/>
          <p:nvPr/>
        </p:nvSpPr>
        <p:spPr>
          <a:xfrm>
            <a:off x="640080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Board, component side</a:t>
            </a:r>
            <a:endParaRPr lang="en-US" sz="2800" dirty="0"/>
          </a:p>
        </p:txBody>
      </p:sp>
      <p:pic>
        <p:nvPicPr>
          <p:cNvPr id="7" name="Control board, bottom" descr="Control board, bott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6247" y="1691640"/>
            <a:ext cx="1970227" cy="2926080"/>
          </a:xfrm>
          <a:prstGeom prst="rect">
            <a:avLst/>
          </a:prstGeom>
        </p:spPr>
      </p:pic>
      <p:sp>
        <p:nvSpPr>
          <p:cNvPr id="8" name="Control board, bottom caption"/>
          <p:cNvSpPr txBox="1"/>
          <p:nvPr/>
        </p:nvSpPr>
        <p:spPr>
          <a:xfrm>
            <a:off x="1194816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Board, copper side</a:t>
            </a:r>
            <a:endParaRPr lang="en-US" sz="2800" dirty="0"/>
          </a:p>
        </p:txBody>
      </p:sp>
      <p:pic>
        <p:nvPicPr>
          <p:cNvPr id="9" name="4×4 test cube" descr="4×4 test cub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294" y="5486400"/>
            <a:ext cx="2200693" cy="2926080"/>
          </a:xfrm>
          <a:prstGeom prst="rect">
            <a:avLst/>
          </a:prstGeom>
        </p:spPr>
      </p:pic>
      <p:sp>
        <p:nvSpPr>
          <p:cNvPr id="10" name="4×4 test cube caption"/>
          <p:cNvSpPr txBox="1"/>
          <p:nvPr/>
        </p:nvSpPr>
        <p:spPr>
          <a:xfrm>
            <a:off x="853440" y="8458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4×4 test cube</a:t>
            </a:r>
            <a:endParaRPr lang="en-US" sz="2800" dirty="0"/>
          </a:p>
        </p:txBody>
      </p:sp>
      <p:pic>
        <p:nvPicPr>
          <p:cNvPr id="11" name="Cube in A4 paper" descr="Cube in A4 pap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1902" y="5486400"/>
            <a:ext cx="2204197" cy="2926080"/>
          </a:xfrm>
          <a:prstGeom prst="rect">
            <a:avLst/>
          </a:prstGeom>
        </p:spPr>
      </p:pic>
      <p:sp>
        <p:nvSpPr>
          <p:cNvPr id="12" name="Cube in A4 paper caption"/>
          <p:cNvSpPr txBox="1"/>
          <p:nvPr/>
        </p:nvSpPr>
        <p:spPr>
          <a:xfrm>
            <a:off x="6400800" y="8458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Cube in A4 paper</a:t>
            </a:r>
            <a:endParaRPr lang="en-US" sz="2800" dirty="0"/>
          </a:p>
        </p:txBody>
      </p:sp>
      <p:pic>
        <p:nvPicPr>
          <p:cNvPr id="13" name="Sensor on the Z axis" descr="Sensor on the Z axi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49985" y="5486400"/>
            <a:ext cx="3882750" cy="2926080"/>
          </a:xfrm>
          <a:prstGeom prst="rect">
            <a:avLst/>
          </a:prstGeom>
        </p:spPr>
      </p:pic>
      <p:sp>
        <p:nvSpPr>
          <p:cNvPr id="14" name="Sensor on the Z axis caption"/>
          <p:cNvSpPr txBox="1"/>
          <p:nvPr/>
        </p:nvSpPr>
        <p:spPr>
          <a:xfrm>
            <a:off x="11948160" y="8458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Sensor on the Z axis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60 test runs, no functional error</a:t>
            </a:r>
            <a:endParaRPr lang="en-US" sz="4000" dirty="0"/>
          </a:p>
        </p:txBody>
      </p:sp>
      <p:sp>
        <p:nvSpPr>
          <p:cNvPr id="3" name="stat fw value"/>
          <p:cNvSpPr txBox="1"/>
          <p:nvPr/>
        </p:nvSpPr>
        <p:spPr>
          <a:xfrm>
            <a:off x="82296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4" name="stat fw label"/>
          <p:cNvSpPr txBox="1"/>
          <p:nvPr/>
        </p:nvSpPr>
        <p:spPr>
          <a:xfrm>
            <a:off x="82296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firmware runs</a:t>
            </a:r>
            <a:endParaRPr lang="en-US" sz="2800" dirty="0"/>
          </a:p>
        </p:txBody>
      </p:sp>
      <p:sp>
        <p:nvSpPr>
          <p:cNvPr id="5" name="stat rx value"/>
          <p:cNvSpPr txBox="1"/>
          <p:nvPr/>
        </p:nvSpPr>
        <p:spPr>
          <a:xfrm>
            <a:off x="502920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6" name="stat rx label"/>
          <p:cNvSpPr txBox="1"/>
          <p:nvPr/>
        </p:nvSpPr>
        <p:spPr>
          <a:xfrm>
            <a:off x="502920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receiver runs</a:t>
            </a:r>
            <a:endParaRPr lang="en-US" sz="2800" dirty="0"/>
          </a:p>
        </p:txBody>
      </p:sp>
      <p:sp>
        <p:nvSpPr>
          <p:cNvPr id="7" name="stat mesh value"/>
          <p:cNvSpPr txBox="1"/>
          <p:nvPr/>
        </p:nvSpPr>
        <p:spPr>
          <a:xfrm>
            <a:off x="9235440" y="1737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8" name="stat mesh label"/>
          <p:cNvSpPr txBox="1"/>
          <p:nvPr/>
        </p:nvSpPr>
        <p:spPr>
          <a:xfrm>
            <a:off x="923544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mesh builder runs</a:t>
            </a:r>
            <a:endParaRPr lang="en-US" sz="2800" dirty="0"/>
          </a:p>
        </p:txBody>
      </p:sp>
      <p:sp>
        <p:nvSpPr>
          <p:cNvPr id="9" name="stat adc value"/>
          <p:cNvSpPr txBox="1"/>
          <p:nvPr/>
        </p:nvSpPr>
        <p:spPr>
          <a:xfrm>
            <a:off x="13441680" y="17373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36 %</a:t>
            </a:r>
            <a:endParaRPr lang="en-US" sz="6000" dirty="0"/>
          </a:p>
        </p:txBody>
      </p:sp>
      <p:sp>
        <p:nvSpPr>
          <p:cNvPr id="10" name="stat adc label"/>
          <p:cNvSpPr txBox="1"/>
          <p:nvPr/>
        </p:nvSpPr>
        <p:spPr>
          <a:xfrm>
            <a:off x="13441680" y="2880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ADC errors still OK</a:t>
            </a:r>
            <a:endParaRPr lang="en-US" sz="2800" dirty="0"/>
          </a:p>
        </p:txBody>
      </p:sp>
      <p:sp>
        <p:nvSpPr>
          <p:cNvPr id="11" name="test bullets"/>
          <p:cNvSpPr txBox="1"/>
          <p:nvPr/>
        </p:nvSpPr>
        <p:spPr>
          <a:xfrm>
            <a:off x="914400" y="4480560"/>
            <a:ext cx="1645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Unmodified firmware against a simulated machine and real TCP sockets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Covered: no object, late PC, Wi-Fi loss, NACK, tall object, bad input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Simulated 60 mm cube → 60.7–60.9 mm, 0.35 mm RMS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22 + 18 + 28 = 68 program runs: 8 tests run firmware and receiver together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Results on the 60 mm cube: ±1–2 mm met</a:t>
            </a:r>
            <a:endParaRPr lang="en-US" sz="4000" dirty="0"/>
          </a:p>
        </p:txBody>
      </p:sp>
      <p:pic>
        <p:nvPicPr>
          <p:cNvPr id="3" name="results figure" descr="results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6642080" cy="4297680"/>
          </a:xfrm>
          <a:prstGeom prst="rect">
            <a:avLst/>
          </a:prstGeom>
        </p:spPr>
      </p:pic>
      <p:graphicFrame>
        <p:nvGraphicFramePr>
          <p:cNvPr id="18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5943600"/>
          <a:ext cx="15361920" cy="3017520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Remark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Sim, no correction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71.6 × 71.1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pinwheel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Sim, e = 14.1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60.8 × 60.9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0.35 mm RMS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Real, tape, old table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65.8 × 66.7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translucent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Real, A4 paper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62.3 × 62.5 mm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2E3A46"/>
                          </a:solidFill>
                        </a:rPr>
                        <a:t>side 61.3 mm (+1.3)</a:t>
                      </a:r>
                      <a:endParaRPr lang="en-US" sz="28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Real scan: stable from bottom to top</a:t>
            </a:r>
            <a:endParaRPr lang="en-US" sz="4000" dirty="0"/>
          </a:p>
        </p:txBody>
      </p:sp>
      <p:pic>
        <p:nvPicPr>
          <p:cNvPr id="3" name="layer log figure" descr="layer log fig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6642080" cy="5120640"/>
          </a:xfrm>
          <a:prstGeom prst="rect">
            <a:avLst/>
          </a:prstGeom>
        </p:spPr>
      </p:pic>
      <p:sp>
        <p:nvSpPr>
          <p:cNvPr id="4" name="stat points real value"/>
          <p:cNvSpPr txBox="1"/>
          <p:nvPr/>
        </p:nvSpPr>
        <p:spPr>
          <a:xfrm>
            <a:off x="822960" y="704088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100/100</a:t>
            </a:r>
            <a:endParaRPr lang="en-US" sz="6000" dirty="0"/>
          </a:p>
        </p:txBody>
      </p:sp>
      <p:sp>
        <p:nvSpPr>
          <p:cNvPr id="5" name="stat points real label"/>
          <p:cNvSpPr txBox="1"/>
          <p:nvPr/>
        </p:nvSpPr>
        <p:spPr>
          <a:xfrm>
            <a:off x="822960" y="8183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points per layer</a:t>
            </a:r>
            <a:endParaRPr lang="en-US" sz="2800" dirty="0"/>
          </a:p>
        </p:txBody>
      </p:sp>
      <p:sp>
        <p:nvSpPr>
          <p:cNvPr id="6" name="stat adc real value"/>
          <p:cNvSpPr txBox="1"/>
          <p:nvPr/>
        </p:nvSpPr>
        <p:spPr>
          <a:xfrm>
            <a:off x="6492240" y="704088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0.0 %</a:t>
            </a:r>
            <a:endParaRPr lang="en-US" sz="6000" dirty="0"/>
          </a:p>
        </p:txBody>
      </p:sp>
      <p:sp>
        <p:nvSpPr>
          <p:cNvPr id="7" name="stat adc real label"/>
          <p:cNvSpPr txBox="1"/>
          <p:nvPr/>
        </p:nvSpPr>
        <p:spPr>
          <a:xfrm>
            <a:off x="6492240" y="8183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ADC errors</a:t>
            </a:r>
            <a:endParaRPr lang="en-US" sz="2800" dirty="0"/>
          </a:p>
        </p:txBody>
      </p:sp>
      <p:sp>
        <p:nvSpPr>
          <p:cNvPr id="8" name="stat time real value"/>
          <p:cNvSpPr txBox="1"/>
          <p:nvPr/>
        </p:nvSpPr>
        <p:spPr>
          <a:xfrm>
            <a:off x="12161520" y="704088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 s</a:t>
            </a:r>
            <a:endParaRPr lang="en-US" sz="6000" dirty="0"/>
          </a:p>
        </p:txBody>
      </p:sp>
      <p:sp>
        <p:nvSpPr>
          <p:cNvPr id="9" name="stat time real label"/>
          <p:cNvSpPr txBox="1"/>
          <p:nvPr/>
        </p:nvSpPr>
        <p:spPr>
          <a:xfrm>
            <a:off x="12161520" y="8183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per 1 mm layer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411480"/>
            <a:ext cx="1517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Limitations and future work</a:t>
            </a:r>
            <a:endParaRPr lang="en-US" sz="4000" dirty="0"/>
          </a:p>
        </p:txBody>
      </p:sp>
      <p:sp>
        <p:nvSpPr>
          <p:cNvPr id="3" name="limits card"/>
          <p:cNvSpPr/>
          <p:nvPr/>
        </p:nvSpPr>
        <p:spPr>
          <a:xfrm>
            <a:off x="822960" y="1828800"/>
            <a:ext cx="5349240" cy="438912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limits dot"/>
          <p:cNvSpPr/>
          <p:nvPr/>
        </p:nvSpPr>
        <p:spPr>
          <a:xfrm>
            <a:off x="1143000" y="2212848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imits head"/>
          <p:cNvSpPr txBox="1"/>
          <p:nvPr/>
        </p:nvSpPr>
        <p:spPr>
          <a:xfrm>
            <a:off x="1828800" y="20848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</a:t>
            </a:r>
            <a:endParaRPr lang="en-US" sz="3200" dirty="0"/>
          </a:p>
        </p:txBody>
      </p:sp>
      <p:sp>
        <p:nvSpPr>
          <p:cNvPr id="6" name="limits body"/>
          <p:cNvSpPr txBox="1"/>
          <p:nvPr/>
        </p:nvSpPr>
        <p:spPr>
          <a:xfrm>
            <a:off x="1188720" y="306324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Surface-dependent sensor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No Z home switch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No top surface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No colour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CAL set on the test cube</a:t>
            </a:r>
            <a:endParaRPr lang="en-US" sz="2800" dirty="0"/>
          </a:p>
        </p:txBody>
      </p:sp>
      <p:sp>
        <p:nvSpPr>
          <p:cNvPr id="7" name="upgrades card"/>
          <p:cNvSpPr/>
          <p:nvPr/>
        </p:nvSpPr>
        <p:spPr>
          <a:xfrm>
            <a:off x="6464808" y="1828800"/>
            <a:ext cx="5349240" cy="438912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upgrades dot"/>
          <p:cNvSpPr/>
          <p:nvPr/>
        </p:nvSpPr>
        <p:spPr>
          <a:xfrm>
            <a:off x="6784848" y="22128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upgrades head"/>
          <p:cNvSpPr txBox="1"/>
          <p:nvPr/>
        </p:nvSpPr>
        <p:spPr>
          <a:xfrm>
            <a:off x="7470648" y="20848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Embedded</a:t>
            </a:r>
            <a:endParaRPr lang="en-US" sz="3200" dirty="0"/>
          </a:p>
        </p:txBody>
      </p:sp>
      <p:sp>
        <p:nvSpPr>
          <p:cNvPr id="10" name="upgrades body"/>
          <p:cNvSpPr txBox="1"/>
          <p:nvPr/>
        </p:nvSpPr>
        <p:spPr>
          <a:xfrm>
            <a:off x="6830568" y="306324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Z limit switch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ADC1 or ADS1115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STEP pulses from RMT / timer</a:t>
            </a:r>
            <a:endParaRPr lang="en-US" sz="2800" dirty="0"/>
          </a:p>
        </p:txBody>
      </p:sp>
      <p:sp>
        <p:nvSpPr>
          <p:cNvPr id="11" name="ai future card"/>
          <p:cNvSpPr/>
          <p:nvPr/>
        </p:nvSpPr>
        <p:spPr>
          <a:xfrm>
            <a:off x="12115800" y="1828800"/>
            <a:ext cx="5349240" cy="438912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ai future dot"/>
          <p:cNvSpPr/>
          <p:nvPr/>
        </p:nvSpPr>
        <p:spPr>
          <a:xfrm>
            <a:off x="12435840" y="22128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ai future head"/>
          <p:cNvSpPr txBox="1"/>
          <p:nvPr/>
        </p:nvSpPr>
        <p:spPr>
          <a:xfrm>
            <a:off x="13121640" y="20848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and features</a:t>
            </a:r>
            <a:endParaRPr lang="en-US" sz="3200" dirty="0"/>
          </a:p>
        </p:txBody>
      </p:sp>
      <p:sp>
        <p:nvSpPr>
          <p:cNvPr id="14" name="ai future body"/>
          <p:cNvSpPr txBox="1"/>
          <p:nvPr/>
        </p:nvSpPr>
        <p:spPr>
          <a:xfrm>
            <a:off x="12481560" y="306324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AI auto-calibration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Top-surface scan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Colour output</a:t>
            </a:r>
            <a:endParaRPr lang="en-US" sz="2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Point-cloud completion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509760"/>
            <a:ext cx="1097280" cy="5486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60120" y="2834640"/>
            <a:ext cx="1636776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 working low-cost scanner, built around the sensor's real behaviour</a:t>
            </a:r>
            <a:endParaRPr lang="en-US" sz="4400" dirty="0"/>
          </a:p>
        </p:txBody>
      </p:sp>
      <p:sp>
        <p:nvSpPr>
          <p:cNvPr id="3" name="closing text"/>
          <p:cNvSpPr txBox="1"/>
          <p:nvPr/>
        </p:nvSpPr>
        <p:spPr>
          <a:xfrm>
            <a:off x="960120" y="4800600"/>
            <a:ext cx="16367760" cy="1660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D5DBE1"/>
                </a:solidFill>
              </a:rPr>
              <a:t>Automatic scan · robust ADC next to Wi-Fi · verified transfer · closed STL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D5DBE1"/>
                </a:solidFill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video: </a:t>
            </a:r>
            <a:r>
              <a:rPr lang="en-US" sz="2800" b="1" dirty="0">
                <a:solidFill>
                  <a:srgbClr val="FFFFFF"/>
                </a:solidFill>
                <a:hlinkClick r:id="rId3"/>
              </a:rPr>
              <a:t>https://www.youtube.com/watch?v=GfAV5bEJ8As</a:t>
            </a:r>
            <a:endParaRPr lang="en-US" sz="2800" dirty="0"/>
          </a:p>
        </p:txBody>
      </p:sp>
      <p:sp>
        <p:nvSpPr>
          <p:cNvPr id="4" name="IR dot end"/>
          <p:cNvSpPr/>
          <p:nvPr/>
        </p:nvSpPr>
        <p:spPr>
          <a:xfrm>
            <a:off x="15544800" y="731520"/>
            <a:ext cx="1645920" cy="1645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R dot core end"/>
          <p:cNvSpPr/>
          <p:nvPr/>
        </p:nvSpPr>
        <p:spPr>
          <a:xfrm>
            <a:off x="15983712" y="1170432"/>
            <a:ext cx="768096" cy="7680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D8F36-DEB9-4CC9-AC6D-195AD5582692}"/>
              </a:ext>
            </a:extLst>
          </p:cNvPr>
          <p:cNvSpPr txBox="1"/>
          <p:nvPr/>
        </p:nvSpPr>
        <p:spPr>
          <a:xfrm>
            <a:off x="3248526" y="7645607"/>
            <a:ext cx="117909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</a:rPr>
              <a:t>Thank you for listening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rared Scanner">
  <a:themeElements>
    <a:clrScheme name="Infrared Scanner">
      <a:dk1>
        <a:srgbClr val="1B1F24"/>
      </a:dk1>
      <a:lt1>
        <a:srgbClr val="FFFFFF"/>
      </a:lt1>
      <a:dk2>
        <a:srgbClr val="2E3A46"/>
      </a:dk2>
      <a:lt2>
        <a:srgbClr val="F2F4F6"/>
      </a:lt2>
      <a:accent1>
        <a:srgbClr val="C0392B"/>
      </a:accent1>
      <a:accent2>
        <a:srgbClr val="1F6FB2"/>
      </a:accent2>
      <a:accent3>
        <a:srgbClr val="D68910"/>
      </a:accent3>
      <a:accent4>
        <a:srgbClr val="1E8449"/>
      </a:accent4>
      <a:accent5>
        <a:srgbClr val="7D3C98"/>
      </a:accent5>
      <a:accent6>
        <a:srgbClr val="5D6D7E"/>
      </a:accent6>
      <a:hlink>
        <a:srgbClr val="1F6FB2"/>
      </a:hlink>
      <a:folHlink>
        <a:srgbClr val="7D3C98"/>
      </a:folHlink>
    </a:clrScheme>
    <a:fontScheme name="Infrared Scan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942</Words>
  <Application>Microsoft Office PowerPoint</Application>
  <PresentationFormat>Custom</PresentationFormat>
  <Paragraphs>218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Infrared Scanner</vt:lpstr>
      <vt:lpstr>Embedded 3D Scanner with ESP32-S3 and the Sharp GP2Y0A51SK0F Infrared Sensor</vt:lpstr>
      <vt:lpstr>Goal: digitise small objects with one low-cost sensor</vt:lpstr>
      <vt:lpstr>TF-Luna cannot see the object; the Sharp sensor can</vt:lpstr>
      <vt:lpstr>Triangulation: distance moves the light spot on the PSD</vt:lpstr>
      <vt:lpstr>The reading depends on the surface (1/2)</vt:lpstr>
      <vt:lpstr>The reading depends on the surface (2/2)</vt:lpstr>
      <vt:lpstr>System overview</vt:lpstr>
      <vt:lpstr>Pin allocation and control board</vt:lpstr>
      <vt:lpstr>Firmware: two tasks that only meet in RAM</vt:lpstr>
      <vt:lpstr>Measuring one point next to Wi-Fi</vt:lpstr>
      <vt:lpstr>From 24 raw samples to one radius</vt:lpstr>
      <vt:lpstr>Motion timed to cancel table vibration</vt:lpstr>
      <vt:lpstr>A transfer the PC can verify</vt:lpstr>
      <vt:lpstr>PC side: correcting the 14.1 mm beam offset</vt:lpstr>
      <vt:lpstr>Hardware built</vt:lpstr>
      <vt:lpstr>60 test runs, no functional error</vt:lpstr>
      <vt:lpstr>Results on the 60 mm cube: ±1–2 mm met</vt:lpstr>
      <vt:lpstr>Real scan: stable from bottom to top</vt:lpstr>
      <vt:lpstr>Limitations and future work</vt:lpstr>
      <vt:lpstr>A working low-cost scanner, built around the sensor's real behaviour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3D Scanner – ESP32-S3 + Sharp GP2Y0A51SK0F</dc:title>
  <dc:subject>PptxGenJS Presentation</dc:subject>
  <dc:creator>Huynh Anh Tuan, Le Thanh Tai, Phan Anh Khoa</dc:creator>
  <cp:lastModifiedBy>Tuấn Huỳnh</cp:lastModifiedBy>
  <cp:revision>3</cp:revision>
  <dcterms:created xsi:type="dcterms:W3CDTF">2026-10-27T13:40:47Z</dcterms:created>
  <dcterms:modified xsi:type="dcterms:W3CDTF">2026-10-28T05:53:31Z</dcterms:modified>
</cp:coreProperties>
</file>